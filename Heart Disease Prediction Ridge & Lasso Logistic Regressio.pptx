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1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9900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1512" y="-1463040"/>
            <a:ext cx="3840480" cy="38404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51592" y="-822960"/>
            <a:ext cx="2560320" cy="2560320"/>
          </a:xfrm>
          <a:prstGeom prst="ellipse">
            <a:avLst/>
          </a:prstGeom>
          <a:solidFill>
            <a:srgbClr val="6E000C"/>
          </a:solidFill>
          <a:ln/>
        </p:spPr>
      </p:sp>
      <p:sp>
        <p:nvSpPr>
          <p:cNvPr id="4" name="Shape 2"/>
          <p:cNvSpPr/>
          <p:nvPr/>
        </p:nvSpPr>
        <p:spPr>
          <a:xfrm>
            <a:off x="-1463040" y="5029200"/>
            <a:ext cx="3291840" cy="329184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822960" y="5852160"/>
            <a:ext cx="1828800" cy="182880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548640"/>
            <a:ext cx="2788920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54864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DOMAIN: HEALTHCARE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Heart Disease Prediction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640080" y="2788920"/>
            <a:ext cx="9692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6D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Ridge- and Lasso-Regularized Logistic Regression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58368" y="3703320"/>
            <a:ext cx="1920240" cy="0"/>
          </a:xfrm>
          <a:prstGeom prst="line">
            <a:avLst/>
          </a:prstGeom>
          <a:noFill/>
          <a:ln w="254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977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D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4343400"/>
            <a:ext cx="420624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43434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ANUSRI</a:t>
            </a:r>
            <a:pPr indent="0" marL="0">
              <a:buNone/>
            </a:pPr>
            <a:r>
              <a:rPr lang="en-US" sz="1400" dirty="0">
                <a:solidFill>
                  <a:srgbClr val="F6D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~   2520030432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910328"/>
            <a:ext cx="420624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8680" y="491032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 SIMRAN</a:t>
            </a:r>
            <a:pPr indent="0" marL="0">
              <a:buNone/>
            </a:pPr>
            <a:r>
              <a:rPr lang="en-US" sz="1400" dirty="0">
                <a:solidFill>
                  <a:srgbClr val="F6D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~   2520030166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6263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9B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Number: 20   |   Section: 9   |   Guide: M Rani, CSE Department</a:t>
            </a:r>
            <a:endParaRPr lang="en-US" sz="1050" dirty="0"/>
          </a:p>
        </p:txBody>
      </p:sp>
      <p:pic>
        <p:nvPicPr>
          <p:cNvPr id="17" name="Image 0" descr="/home/claude/heart_ppt/icons/icon_heart_w.pn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>
            <a:off x="10515600" y="5212080"/>
            <a:ext cx="100584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FDEEEC"/>
          </a:solidFill>
          <a:ln/>
        </p:spPr>
      </p:sp>
      <p:sp>
        <p:nvSpPr>
          <p:cNvPr id="3" name="Shape 1"/>
          <p:cNvSpPr/>
          <p:nvPr/>
        </p:nvSpPr>
        <p:spPr>
          <a:xfrm>
            <a:off x="11000232" y="5669280"/>
            <a:ext cx="2011680" cy="2011680"/>
          </a:xfrm>
          <a:prstGeom prst="ellipse">
            <a:avLst/>
          </a:prstGeom>
          <a:solidFill>
            <a:srgbClr val="FDEEE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GETTING STARTED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Definition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3749040" cy="4663440"/>
          </a:xfrm>
          <a:prstGeom prst="roundRect">
            <a:avLst>
              <a:gd name="adj" fmla="val 4390"/>
            </a:avLst>
          </a:prstGeom>
          <a:solidFill>
            <a:srgbClr val="990011"/>
          </a:solidFill>
          <a:ln/>
        </p:spPr>
      </p:sp>
      <p:pic>
        <p:nvPicPr>
          <p:cNvPr id="7" name="Image 0" descr="/home/claude/heart_ppt/icons/icon_heartbeat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5960" y="2468880"/>
            <a:ext cx="914400" cy="9144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611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68680" y="4023360"/>
            <a:ext cx="31089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6D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Cardiovascular disease remains one of the leading causes of death worldwide. Predicting risk early gives patients and doctors a critical window to act before a crisis occurs.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617720" y="1691640"/>
            <a:ext cx="457200" cy="457200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11" name="Image 1" descr="/home/claude/heart_ppt/icons/icon_bullseye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78308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76088" y="1664208"/>
            <a:ext cx="6291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problem are we solving?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5276088" y="1947672"/>
            <a:ext cx="62910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the likelihood that a patient has heart disease from routine clinical measurements, using a regularized logistic regression model.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617720" y="2862072"/>
            <a:ext cx="457200" cy="457200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15" name="Image 2" descr="/home/claude/heart_ppt/icons/icon_shield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2953512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276088" y="2834640"/>
            <a:ext cx="6291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this important?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5276088" y="3118104"/>
            <a:ext cx="62910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Early, low-cost risk screening can flag high-risk patients sooner, enabling timely referral, lifestyle change, or treatment.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617720" y="4032504"/>
            <a:ext cx="457200" cy="457200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19" name="Image 3" descr="/home/claude/heart_ppt/icons/icon_usermd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4123944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276088" y="4005072"/>
            <a:ext cx="6291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will use the solution?</a:t>
            </a:r>
            <a:endParaRPr lang="en-US" sz="1400" dirty="0"/>
          </a:p>
        </p:txBody>
      </p:sp>
      <p:sp>
        <p:nvSpPr>
          <p:cNvPr id="21" name="Text 15"/>
          <p:cNvSpPr txBox="1"/>
          <p:nvPr/>
        </p:nvSpPr>
        <p:spPr>
          <a:xfrm>
            <a:off x="5276088" y="4288536"/>
            <a:ext cx="62910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Doctors, clinicians, and healthcare screening programs — as a decision-support aid, not a replacement for diagnosis.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617720" y="5202936"/>
            <a:ext cx="457200" cy="457200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23" name="Image 4" descr="/home/claude/heart_ppt/icons/icon_clipboard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5294376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5276088" y="5175504"/>
            <a:ext cx="6291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expected output?</a:t>
            </a:r>
            <a:endParaRPr lang="en-US" sz="1400" dirty="0"/>
          </a:p>
        </p:txBody>
      </p:sp>
      <p:sp>
        <p:nvSpPr>
          <p:cNvPr id="25" name="Text 18"/>
          <p:cNvSpPr txBox="1"/>
          <p:nvPr/>
        </p:nvSpPr>
        <p:spPr>
          <a:xfrm>
            <a:off x="5276088" y="5458968"/>
            <a:ext cx="62910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predicted class (heart disease present / absent) with an associated risk probability for each patient record.</a:t>
            </a:r>
            <a:endParaRPr lang="en-US" sz="1100" dirty="0"/>
          </a:p>
        </p:txBody>
      </p:sp>
      <p:pic>
        <p:nvPicPr>
          <p:cNvPr id="26" name="Image 5" descr="/home/claude/heart_ppt/icons/icon_heartbeat_c.png">    </p:cNvPr>
          <p:cNvPicPr>
            <a:picLocks noChangeAspect="1"/>
          </p:cNvPicPr>
          <p:nvPr/>
        </p:nvPicPr>
        <p:blipFill>
          <a:blip r:embed="rId6">
            <a:alphaModFix amt="60000"/>
          </a:blip>
          <a:stretch>
            <a:fillRect/>
          </a:stretch>
        </p:blipFill>
        <p:spPr>
          <a:xfrm>
            <a:off x="457200" y="6473952"/>
            <a:ext cx="146304" cy="146304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58368" y="6437376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Prediction · Ridge &amp; Lasso Logistic Regression</a:t>
            </a:r>
            <a:endParaRPr lang="en-US" sz="900" dirty="0"/>
          </a:p>
        </p:txBody>
      </p:sp>
      <p:sp>
        <p:nvSpPr>
          <p:cNvPr id="28" name="Text 20"/>
          <p:cNvSpPr/>
          <p:nvPr/>
        </p:nvSpPr>
        <p:spPr>
          <a:xfrm>
            <a:off x="11365992" y="6437376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E3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77272" y="-1097280"/>
            <a:ext cx="2926080" cy="292608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5394960"/>
            <a:ext cx="2560320" cy="2560320"/>
          </a:xfrm>
          <a:prstGeom prst="ellipse">
            <a:avLst/>
          </a:prstGeom>
          <a:solidFill>
            <a:srgbClr val="990011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COLLECTING THE DATA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Collection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17043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reliable clinical dataset before any modelling begins.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566928" cy="566928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830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280160" y="1783080"/>
            <a:ext cx="1033272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90011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1600200" y="1783080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a public clinical dataset — e.g. the UCI Machine Learning Repository / Kaggle Heart Disease (Cleveland) dataset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478024"/>
            <a:ext cx="566928" cy="566928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4780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280160" y="2478024"/>
            <a:ext cx="1033272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90011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1600200" y="2478024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the dataset and load it into a working notebook environment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172968"/>
            <a:ext cx="566928" cy="566928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17296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280160" y="3172968"/>
            <a:ext cx="1033272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90011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1600200" y="3172968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every column: patient demographics, vitals, and cardiac test results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867912"/>
            <a:ext cx="566928" cy="566928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86791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280160" y="3867912"/>
            <a:ext cx="1033272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90011">
                <a:alpha val="1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1600200" y="3867912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target column — presence (1) or absence (0) of heart disease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562856"/>
            <a:ext cx="566928" cy="566928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456285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1280160" y="4562856"/>
            <a:ext cx="1033272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90011">
                <a:alpha val="18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1600200" y="4562856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number of rows (patient records) and columns (features)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5257800"/>
            <a:ext cx="566928" cy="566928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52578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1280160" y="5257800"/>
            <a:ext cx="1033272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90011">
                <a:alpha val="18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1600200" y="5257800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the feature types: 13 clinical attributes, e.g. age, sex, chest pain type, resting BP, cholesterol, max heart rate</a:t>
            </a:r>
            <a:endParaRPr lang="en-US" sz="1300" dirty="0"/>
          </a:p>
        </p:txBody>
      </p:sp>
      <p:pic>
        <p:nvPicPr>
          <p:cNvPr id="31" name="Image 0" descr="/home/claude/heart_ppt/icons/icon_heartbeat_c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457200" y="6473952"/>
            <a:ext cx="146304" cy="146304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658368" y="6437376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Prediction · Ridge &amp; Lasso Logistic Regression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1365992" y="6437376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FDEEEC"/>
          </a:solidFill>
          <a:ln/>
        </p:spPr>
      </p:sp>
      <p:sp>
        <p:nvSpPr>
          <p:cNvPr id="3" name="Shape 1"/>
          <p:cNvSpPr/>
          <p:nvPr/>
        </p:nvSpPr>
        <p:spPr>
          <a:xfrm>
            <a:off x="11000232" y="5669280"/>
            <a:ext cx="2011680" cy="2011680"/>
          </a:xfrm>
          <a:prstGeom prst="ellipse">
            <a:avLst/>
          </a:prstGeom>
          <a:solidFill>
            <a:srgbClr val="FDEEE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KNOW YOUR DATA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Understanding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profile of the Cleveland-style heart disease dataset before cleaning.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2626614" cy="2116836"/>
          </a:xfrm>
          <a:prstGeom prst="roundRect">
            <a:avLst>
              <a:gd name="adj" fmla="val 60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90011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49808" y="1892808"/>
            <a:ext cx="502920" cy="502920"/>
          </a:xfrm>
          <a:prstGeom prst="ellipse">
            <a:avLst/>
          </a:prstGeom>
          <a:solidFill>
            <a:srgbClr val="FBE3DF"/>
          </a:solidFill>
          <a:ln/>
        </p:spPr>
      </p:sp>
      <p:pic>
        <p:nvPicPr>
          <p:cNvPr id="9" name="Image 0" descr="/home/claude/heart_ppt/icons/icon_clipboard_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108" y="2007108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49808" y="2468880"/>
            <a:ext cx="22242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records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49808" y="2779776"/>
            <a:ext cx="2224278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303 patient records in the base dataset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376422" y="1691640"/>
            <a:ext cx="2626614" cy="2116836"/>
          </a:xfrm>
          <a:prstGeom prst="roundRect">
            <a:avLst>
              <a:gd name="adj" fmla="val 60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90011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577590" y="1892808"/>
            <a:ext cx="502920" cy="502920"/>
          </a:xfrm>
          <a:prstGeom prst="ellipse">
            <a:avLst/>
          </a:prstGeom>
          <a:solidFill>
            <a:srgbClr val="FBE3DF"/>
          </a:solidFill>
          <a:ln/>
        </p:spPr>
      </p:sp>
      <p:pic>
        <p:nvPicPr>
          <p:cNvPr id="14" name="Image 1" descr="/home/claude/heart_ppt/icons/icon_layergroup_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1890" y="2007108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577590" y="2468880"/>
            <a:ext cx="22242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features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3577590" y="2779776"/>
            <a:ext cx="2224278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clinical input features + 1 target column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6204204" y="1691640"/>
            <a:ext cx="2626614" cy="2116836"/>
          </a:xfrm>
          <a:prstGeom prst="roundRect">
            <a:avLst>
              <a:gd name="adj" fmla="val 60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90011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405372" y="1892808"/>
            <a:ext cx="502920" cy="502920"/>
          </a:xfrm>
          <a:prstGeom prst="ellipse">
            <a:avLst/>
          </a:prstGeom>
          <a:solidFill>
            <a:srgbClr val="FBE3DF"/>
          </a:solidFill>
          <a:ln/>
        </p:spPr>
      </p:sp>
      <p:pic>
        <p:nvPicPr>
          <p:cNvPr id="19" name="Image 2" descr="/home/claude/heart_ppt/icons/icon_database_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672" y="2007108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405372" y="2468880"/>
            <a:ext cx="22242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6405372" y="2779776"/>
            <a:ext cx="2224278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of numeric (age, cholesterol) and categorical (chest pain type, thal)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9031986" y="1691640"/>
            <a:ext cx="2626614" cy="2116836"/>
          </a:xfrm>
          <a:prstGeom prst="roundRect">
            <a:avLst>
              <a:gd name="adj" fmla="val 60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90011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233154" y="1892808"/>
            <a:ext cx="502920" cy="502920"/>
          </a:xfrm>
          <a:prstGeom prst="ellipse">
            <a:avLst/>
          </a:prstGeom>
          <a:solidFill>
            <a:srgbClr val="FBE3DF"/>
          </a:solidFill>
          <a:ln/>
        </p:spPr>
      </p:sp>
      <p:pic>
        <p:nvPicPr>
          <p:cNvPr id="24" name="Image 3" descr="/home/claude/heart_ppt/icons/icon_filter_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7454" y="2007108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233154" y="2468880"/>
            <a:ext cx="22242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9233154" y="2779776"/>
            <a:ext cx="2224278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number of nulls in 'ca' and 'thal' columns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548640" y="4009644"/>
            <a:ext cx="2626614" cy="2116836"/>
          </a:xfrm>
          <a:prstGeom prst="roundRect">
            <a:avLst>
              <a:gd name="adj" fmla="val 60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90011">
                <a:alpha val="18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749808" y="4210812"/>
            <a:ext cx="502920" cy="502920"/>
          </a:xfrm>
          <a:prstGeom prst="ellipse">
            <a:avLst/>
          </a:prstGeom>
          <a:solidFill>
            <a:srgbClr val="FBE3DF"/>
          </a:solidFill>
          <a:ln/>
        </p:spPr>
      </p:sp>
      <p:pic>
        <p:nvPicPr>
          <p:cNvPr id="29" name="Image 4" descr="/home/claude/heart_ppt/icons/icon_broom_c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108" y="4325112"/>
            <a:ext cx="274320" cy="27432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749808" y="4786884"/>
            <a:ext cx="22242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values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749808" y="5097780"/>
            <a:ext cx="2224278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and removed to avoid data leakage</a:t>
            </a:r>
            <a:endParaRPr lang="en-US" sz="950" dirty="0"/>
          </a:p>
        </p:txBody>
      </p:sp>
      <p:sp>
        <p:nvSpPr>
          <p:cNvPr id="32" name="Shape 25"/>
          <p:cNvSpPr/>
          <p:nvPr/>
        </p:nvSpPr>
        <p:spPr>
          <a:xfrm>
            <a:off x="3376422" y="4009644"/>
            <a:ext cx="2626614" cy="2116836"/>
          </a:xfrm>
          <a:prstGeom prst="roundRect">
            <a:avLst>
              <a:gd name="adj" fmla="val 60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90011">
                <a:alpha val="18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3577590" y="4210812"/>
            <a:ext cx="502920" cy="502920"/>
          </a:xfrm>
          <a:prstGeom prst="ellipse">
            <a:avLst/>
          </a:prstGeom>
          <a:solidFill>
            <a:srgbClr val="FBE3DF"/>
          </a:solidFill>
          <a:ln/>
        </p:spPr>
      </p:sp>
      <p:pic>
        <p:nvPicPr>
          <p:cNvPr id="34" name="Image 5" descr="/home/claude/heart_ppt/icons/icon_chartpie_c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91890" y="4325112"/>
            <a:ext cx="274320" cy="274320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3577590" y="4786884"/>
            <a:ext cx="22242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values</a:t>
            </a:r>
            <a:endParaRPr lang="en-US" sz="1200" dirty="0"/>
          </a:p>
        </p:txBody>
      </p:sp>
      <p:sp>
        <p:nvSpPr>
          <p:cNvPr id="36" name="Text 28"/>
          <p:cNvSpPr txBox="1"/>
          <p:nvPr/>
        </p:nvSpPr>
        <p:spPr>
          <a:xfrm>
            <a:off x="3577590" y="5097780"/>
            <a:ext cx="2224278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per categorical column to validate coded ranges</a:t>
            </a:r>
            <a:endParaRPr lang="en-US" sz="950" dirty="0"/>
          </a:p>
        </p:txBody>
      </p:sp>
      <p:sp>
        <p:nvSpPr>
          <p:cNvPr id="37" name="Shape 29"/>
          <p:cNvSpPr/>
          <p:nvPr/>
        </p:nvSpPr>
        <p:spPr>
          <a:xfrm>
            <a:off x="6204204" y="4009644"/>
            <a:ext cx="2626614" cy="2116836"/>
          </a:xfrm>
          <a:prstGeom prst="roundRect">
            <a:avLst>
              <a:gd name="adj" fmla="val 60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90011">
                <a:alpha val="18000"/>
              </a:srgbClr>
            </a:outerShdw>
          </a:effectLst>
        </p:spPr>
      </p:sp>
      <p:sp>
        <p:nvSpPr>
          <p:cNvPr id="38" name="Shape 30"/>
          <p:cNvSpPr/>
          <p:nvPr/>
        </p:nvSpPr>
        <p:spPr>
          <a:xfrm>
            <a:off x="6405372" y="4210812"/>
            <a:ext cx="502920" cy="502920"/>
          </a:xfrm>
          <a:prstGeom prst="ellipse">
            <a:avLst/>
          </a:prstGeom>
          <a:solidFill>
            <a:srgbClr val="FBE3DF"/>
          </a:solidFill>
          <a:ln/>
        </p:spPr>
      </p:sp>
      <p:pic>
        <p:nvPicPr>
          <p:cNvPr id="39" name="Image 6" descr="/home/claude/heart_ppt/icons/icon_chartbar_c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9672" y="4325112"/>
            <a:ext cx="274320" cy="274320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6405372" y="4786884"/>
            <a:ext cx="22242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summary</a:t>
            </a:r>
            <a:endParaRPr lang="en-US" sz="1200" dirty="0"/>
          </a:p>
        </p:txBody>
      </p:sp>
      <p:sp>
        <p:nvSpPr>
          <p:cNvPr id="41" name="Text 32"/>
          <p:cNvSpPr txBox="1"/>
          <p:nvPr/>
        </p:nvSpPr>
        <p:spPr>
          <a:xfrm>
            <a:off x="6405372" y="5097780"/>
            <a:ext cx="2224278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Mean, median, std-dev and range computed for every numeric feature</a:t>
            </a:r>
            <a:endParaRPr lang="en-US" sz="950" dirty="0"/>
          </a:p>
        </p:txBody>
      </p:sp>
      <p:sp>
        <p:nvSpPr>
          <p:cNvPr id="42" name="Shape 33"/>
          <p:cNvSpPr/>
          <p:nvPr/>
        </p:nvSpPr>
        <p:spPr>
          <a:xfrm>
            <a:off x="9031986" y="4009644"/>
            <a:ext cx="2626614" cy="2116836"/>
          </a:xfrm>
          <a:prstGeom prst="roundRect">
            <a:avLst>
              <a:gd name="adj" fmla="val 60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90011">
                <a:alpha val="18000"/>
              </a:srgbClr>
            </a:outerShdw>
          </a:effectLst>
        </p:spPr>
      </p:sp>
      <p:sp>
        <p:nvSpPr>
          <p:cNvPr id="43" name="Shape 34"/>
          <p:cNvSpPr/>
          <p:nvPr/>
        </p:nvSpPr>
        <p:spPr>
          <a:xfrm>
            <a:off x="9233154" y="4210812"/>
            <a:ext cx="502920" cy="502920"/>
          </a:xfrm>
          <a:prstGeom prst="ellipse">
            <a:avLst/>
          </a:prstGeom>
          <a:solidFill>
            <a:srgbClr val="FBE3DF"/>
          </a:solidFill>
          <a:ln/>
        </p:spPr>
      </p:sp>
      <p:pic>
        <p:nvPicPr>
          <p:cNvPr id="44" name="Image 7" descr="/home/claude/heart_ppt/icons/icon_chartline_c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47454" y="4325112"/>
            <a:ext cx="274320" cy="274320"/>
          </a:xfrm>
          <a:prstGeom prst="rect">
            <a:avLst/>
          </a:prstGeom>
        </p:spPr>
      </p:pic>
      <p:sp>
        <p:nvSpPr>
          <p:cNvPr id="45" name="Text 35"/>
          <p:cNvSpPr txBox="1"/>
          <p:nvPr/>
        </p:nvSpPr>
        <p:spPr>
          <a:xfrm>
            <a:off x="9233154" y="4786884"/>
            <a:ext cx="22242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distribution</a:t>
            </a:r>
            <a:endParaRPr lang="en-US" sz="1200" dirty="0"/>
          </a:p>
        </p:txBody>
      </p:sp>
      <p:sp>
        <p:nvSpPr>
          <p:cNvPr id="46" name="Text 36"/>
          <p:cNvSpPr txBox="1"/>
          <p:nvPr/>
        </p:nvSpPr>
        <p:spPr>
          <a:xfrm>
            <a:off x="9233154" y="5097780"/>
            <a:ext cx="2224278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cholesterol and heart rate reviewed for skew and spread</a:t>
            </a:r>
            <a:endParaRPr lang="en-US" sz="950" dirty="0"/>
          </a:p>
        </p:txBody>
      </p:sp>
      <p:pic>
        <p:nvPicPr>
          <p:cNvPr id="47" name="Image 8" descr="/home/claude/heart_ppt/icons/icon_heartbeat_c.png">    </p:cNvPr>
          <p:cNvPicPr>
            <a:picLocks noChangeAspect="1"/>
          </p:cNvPicPr>
          <p:nvPr/>
        </p:nvPicPr>
        <p:blipFill>
          <a:blip r:embed="rId9">
            <a:alphaModFix amt="60000"/>
          </a:blip>
          <a:stretch>
            <a:fillRect/>
          </a:stretch>
        </p:blipFill>
        <p:spPr>
          <a:xfrm>
            <a:off x="457200" y="6473952"/>
            <a:ext cx="146304" cy="146304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658368" y="6437376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Prediction · Ridge &amp; Lasso Logistic Regression</a:t>
            </a:r>
            <a:endParaRPr lang="en-US" sz="900" dirty="0"/>
          </a:p>
        </p:txBody>
      </p:sp>
      <p:sp>
        <p:nvSpPr>
          <p:cNvPr id="49" name="Text 38"/>
          <p:cNvSpPr/>
          <p:nvPr/>
        </p:nvSpPr>
        <p:spPr>
          <a:xfrm>
            <a:off x="11365992" y="6437376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FDEEEC"/>
          </a:solidFill>
          <a:ln/>
        </p:spPr>
      </p:sp>
      <p:sp>
        <p:nvSpPr>
          <p:cNvPr id="3" name="Shape 1"/>
          <p:cNvSpPr/>
          <p:nvPr/>
        </p:nvSpPr>
        <p:spPr>
          <a:xfrm>
            <a:off x="11000232" y="5669280"/>
            <a:ext cx="2011680" cy="2011680"/>
          </a:xfrm>
          <a:prstGeom prst="ellipse">
            <a:avLst/>
          </a:prstGeom>
          <a:solidFill>
            <a:srgbClr val="FDEEE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CLEANING UP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Preprocessing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check applied before the data is fit to train a model.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3550920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90011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49808" y="1892808"/>
            <a:ext cx="502920" cy="502920"/>
          </a:xfrm>
          <a:prstGeom prst="ellipse">
            <a:avLst/>
          </a:prstGeom>
          <a:solidFill>
            <a:srgbClr val="FBE3DF"/>
          </a:solidFill>
          <a:ln/>
        </p:spPr>
      </p:sp>
      <p:pic>
        <p:nvPicPr>
          <p:cNvPr id="9" name="Image 0" descr="/home/claude/heart_ppt/icons/icon_filter_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108" y="2007108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49808" y="2468880"/>
            <a:ext cx="3148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49808" y="2779776"/>
            <a:ext cx="314858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 or drop nulls in 'ca' and 'thal' using median / mode strategies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328160" y="1691640"/>
            <a:ext cx="3550920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90011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29328" y="1892808"/>
            <a:ext cx="502920" cy="502920"/>
          </a:xfrm>
          <a:prstGeom prst="ellipse">
            <a:avLst/>
          </a:prstGeom>
          <a:solidFill>
            <a:srgbClr val="FBE3DF"/>
          </a:solidFill>
          <a:ln/>
        </p:spPr>
      </p:sp>
      <p:pic>
        <p:nvPicPr>
          <p:cNvPr id="14" name="Image 1" descr="/home/claude/heart_ppt/icons/icon_broom_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3628" y="2007108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529328" y="2468880"/>
            <a:ext cx="3148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records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4529328" y="2779776"/>
            <a:ext cx="314858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and drop exact duplicate patient rows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8107680" y="1691640"/>
            <a:ext cx="3550920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90011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308848" y="1892808"/>
            <a:ext cx="502920" cy="502920"/>
          </a:xfrm>
          <a:prstGeom prst="ellipse">
            <a:avLst/>
          </a:prstGeom>
          <a:solidFill>
            <a:srgbClr val="FBE3DF"/>
          </a:solidFill>
          <a:ln/>
        </p:spPr>
      </p:sp>
      <p:pic>
        <p:nvPicPr>
          <p:cNvPr id="19" name="Image 2" descr="/home/claude/heart_ppt/icons/icon_chartbar_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3148" y="2007108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308848" y="2468880"/>
            <a:ext cx="3148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8308848" y="2779776"/>
            <a:ext cx="314858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extreme cholesterol / resting BP values with IQR or z-score checks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548640" y="4023360"/>
            <a:ext cx="3550920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90011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49808" y="4224528"/>
            <a:ext cx="502920" cy="502920"/>
          </a:xfrm>
          <a:prstGeom prst="ellipse">
            <a:avLst/>
          </a:prstGeom>
          <a:solidFill>
            <a:srgbClr val="FBE3DF"/>
          </a:solidFill>
          <a:ln/>
        </p:spPr>
      </p:sp>
      <p:pic>
        <p:nvPicPr>
          <p:cNvPr id="24" name="Image 3" descr="/home/claude/heart_ppt/icons/icon_shield_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108" y="4338828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49808" y="4800600"/>
            <a:ext cx="3148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data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749808" y="5111496"/>
            <a:ext cx="314858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ranges (e.g. age &gt; 0, valid coded categories)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4328160" y="4023360"/>
            <a:ext cx="3550920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90011">
                <a:alpha val="18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4529328" y="4224528"/>
            <a:ext cx="502920" cy="502920"/>
          </a:xfrm>
          <a:prstGeom prst="ellipse">
            <a:avLst/>
          </a:prstGeom>
          <a:solidFill>
            <a:srgbClr val="FBE3DF"/>
          </a:solidFill>
          <a:ln/>
        </p:spPr>
      </p:sp>
      <p:pic>
        <p:nvPicPr>
          <p:cNvPr id="29" name="Image 4" descr="/home/claude/heart_ppt/icons/icon_layergroup_c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3628" y="4338828"/>
            <a:ext cx="274320" cy="27432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4529328" y="4800600"/>
            <a:ext cx="3148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variables</a:t>
            </a:r>
            <a:endParaRPr lang="en-US" sz="1300" dirty="0"/>
          </a:p>
        </p:txBody>
      </p:sp>
      <p:sp>
        <p:nvSpPr>
          <p:cNvPr id="31" name="Text 24"/>
          <p:cNvSpPr txBox="1"/>
          <p:nvPr/>
        </p:nvSpPr>
        <p:spPr>
          <a:xfrm>
            <a:off x="4529328" y="5111496"/>
            <a:ext cx="314858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/ label encode chest pain type, thal, slope, sex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8107680" y="4023360"/>
            <a:ext cx="3550920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90011">
                <a:alpha val="18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8308848" y="4224528"/>
            <a:ext cx="502920" cy="502920"/>
          </a:xfrm>
          <a:prstGeom prst="ellipse">
            <a:avLst/>
          </a:prstGeom>
          <a:solidFill>
            <a:srgbClr val="FBE3DF"/>
          </a:solidFill>
          <a:ln/>
        </p:spPr>
      </p:sp>
      <p:pic>
        <p:nvPicPr>
          <p:cNvPr id="34" name="Image 5" descr="/home/claude/heart_ppt/icons/icon_cogs_c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3148" y="4338828"/>
            <a:ext cx="274320" cy="274320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8308848" y="4800600"/>
            <a:ext cx="3148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variables</a:t>
            </a:r>
            <a:endParaRPr lang="en-US" sz="1300" dirty="0"/>
          </a:p>
        </p:txBody>
      </p:sp>
      <p:sp>
        <p:nvSpPr>
          <p:cNvPr id="36" name="Text 28"/>
          <p:cNvSpPr txBox="1"/>
          <p:nvPr/>
        </p:nvSpPr>
        <p:spPr>
          <a:xfrm>
            <a:off x="8308848" y="5111496"/>
            <a:ext cx="314858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continuous features so Ridge/Lasso penalties act fairly</a:t>
            </a:r>
            <a:endParaRPr lang="en-US" sz="1100" dirty="0"/>
          </a:p>
        </p:txBody>
      </p:sp>
      <p:pic>
        <p:nvPicPr>
          <p:cNvPr id="37" name="Image 6" descr="/home/claude/heart_ppt/icons/icon_heartbeat_c.png">    </p:cNvPr>
          <p:cNvPicPr>
            <a:picLocks noChangeAspect="1"/>
          </p:cNvPicPr>
          <p:nvPr/>
        </p:nvPicPr>
        <p:blipFill>
          <a:blip r:embed="rId7">
            <a:alphaModFix amt="60000"/>
          </a:blip>
          <a:stretch>
            <a:fillRect/>
          </a:stretch>
        </p:blipFill>
        <p:spPr>
          <a:xfrm>
            <a:off x="457200" y="6473952"/>
            <a:ext cx="146304" cy="146304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658368" y="6437376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Prediction · Ridge &amp; Lasso Logistic Regression</a:t>
            </a:r>
            <a:endParaRPr lang="en-US" sz="900" dirty="0"/>
          </a:p>
        </p:txBody>
      </p:sp>
      <p:sp>
        <p:nvSpPr>
          <p:cNvPr id="39" name="Text 30"/>
          <p:cNvSpPr/>
          <p:nvPr/>
        </p:nvSpPr>
        <p:spPr>
          <a:xfrm>
            <a:off x="11365992" y="6437376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FDEEEC"/>
          </a:solidFill>
          <a:ln/>
        </p:spPr>
      </p:sp>
      <p:sp>
        <p:nvSpPr>
          <p:cNvPr id="3" name="Shape 1"/>
          <p:cNvSpPr/>
          <p:nvPr/>
        </p:nvSpPr>
        <p:spPr>
          <a:xfrm>
            <a:off x="11000232" y="5669280"/>
            <a:ext cx="2011680" cy="2011680"/>
          </a:xfrm>
          <a:prstGeom prst="ellipse">
            <a:avLst/>
          </a:prstGeom>
          <a:solidFill>
            <a:srgbClr val="FDEEE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EXPLORATORY DATA ANALYSIS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Visualizing the Data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chart types used to understand patterns before modelling.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3550920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90011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49808" y="1892808"/>
            <a:ext cx="502920" cy="502920"/>
          </a:xfrm>
          <a:prstGeom prst="ellipse">
            <a:avLst/>
          </a:prstGeom>
          <a:solidFill>
            <a:srgbClr val="FBE3DF"/>
          </a:solidFill>
          <a:ln/>
        </p:spPr>
      </p:sp>
      <p:pic>
        <p:nvPicPr>
          <p:cNvPr id="9" name="Image 0" descr="/home/claude/heart_ppt/icons/icon_histogram_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108" y="2007108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49808" y="2468880"/>
            <a:ext cx="3148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49808" y="2779776"/>
            <a:ext cx="314858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of age, cholesterol and resting blood pressure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328160" y="1691640"/>
            <a:ext cx="3550920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90011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29328" y="1892808"/>
            <a:ext cx="502920" cy="502920"/>
          </a:xfrm>
          <a:prstGeom prst="ellipse">
            <a:avLst/>
          </a:prstGeom>
          <a:solidFill>
            <a:srgbClr val="FBE3DF"/>
          </a:solidFill>
          <a:ln/>
        </p:spPr>
      </p:sp>
      <p:pic>
        <p:nvPicPr>
          <p:cNvPr id="14" name="Image 1" descr="/home/claude/heart_ppt/icons/icon_chartbar_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3628" y="2007108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529328" y="2468880"/>
            <a:ext cx="3148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4529328" y="2779776"/>
            <a:ext cx="314858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of heart disease across categorical features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8107680" y="1691640"/>
            <a:ext cx="3550920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90011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308848" y="1892808"/>
            <a:ext cx="502920" cy="502920"/>
          </a:xfrm>
          <a:prstGeom prst="ellipse">
            <a:avLst/>
          </a:prstGeom>
          <a:solidFill>
            <a:srgbClr val="FBE3DF"/>
          </a:solidFill>
          <a:ln/>
        </p:spPr>
      </p:sp>
      <p:pic>
        <p:nvPicPr>
          <p:cNvPr id="19" name="Image 2" descr="/home/claude/heart_ppt/icons/icon_layergroup_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3148" y="2007108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308848" y="2468880"/>
            <a:ext cx="3148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plot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8308848" y="2779776"/>
            <a:ext cx="314858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and outliers in cholesterol and max heart rate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548640" y="4023360"/>
            <a:ext cx="3550920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90011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49808" y="4224528"/>
            <a:ext cx="502920" cy="502920"/>
          </a:xfrm>
          <a:prstGeom prst="ellipse">
            <a:avLst/>
          </a:prstGeom>
          <a:solidFill>
            <a:srgbClr val="FBE3DF"/>
          </a:solidFill>
          <a:ln/>
        </p:spPr>
      </p:sp>
      <p:pic>
        <p:nvPicPr>
          <p:cNvPr id="24" name="Image 3" descr="/home/claude/heart_ppt/icons/icon_scatter_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108" y="4338828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49808" y="4800600"/>
            <a:ext cx="3148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749808" y="5111496"/>
            <a:ext cx="314858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between age and max heart rate achieved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4328160" y="4023360"/>
            <a:ext cx="3550920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90011">
                <a:alpha val="18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4529328" y="4224528"/>
            <a:ext cx="502920" cy="502920"/>
          </a:xfrm>
          <a:prstGeom prst="ellipse">
            <a:avLst/>
          </a:prstGeom>
          <a:solidFill>
            <a:srgbClr val="FBE3DF"/>
          </a:solidFill>
          <a:ln/>
        </p:spPr>
      </p:sp>
      <p:pic>
        <p:nvPicPr>
          <p:cNvPr id="29" name="Image 4" descr="/home/claude/heart_ppt/icons/icon_chartpie_c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3628" y="4338828"/>
            <a:ext cx="274320" cy="27432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4529328" y="4800600"/>
            <a:ext cx="3148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</a:t>
            </a:r>
            <a:endParaRPr lang="en-US" sz="1300" dirty="0"/>
          </a:p>
        </p:txBody>
      </p:sp>
      <p:sp>
        <p:nvSpPr>
          <p:cNvPr id="31" name="Text 24"/>
          <p:cNvSpPr txBox="1"/>
          <p:nvPr/>
        </p:nvSpPr>
        <p:spPr>
          <a:xfrm>
            <a:off x="4529328" y="5111496"/>
            <a:ext cx="314858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Pairwise correlation across all clinical features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8107680" y="4023360"/>
            <a:ext cx="3550920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90011">
                <a:alpha val="18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8308848" y="4224528"/>
            <a:ext cx="502920" cy="502920"/>
          </a:xfrm>
          <a:prstGeom prst="ellipse">
            <a:avLst/>
          </a:prstGeom>
          <a:solidFill>
            <a:srgbClr val="FBE3DF"/>
          </a:solidFill>
          <a:ln/>
        </p:spPr>
      </p:sp>
      <p:pic>
        <p:nvPicPr>
          <p:cNvPr id="34" name="Image 5" descr="/home/claude/heart_ppt/icons/icon_chartline_c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3148" y="4338828"/>
            <a:ext cx="274320" cy="274320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8308848" y="4800600"/>
            <a:ext cx="3148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plot</a:t>
            </a:r>
            <a:endParaRPr lang="en-US" sz="1300" dirty="0"/>
          </a:p>
        </p:txBody>
      </p:sp>
      <p:sp>
        <p:nvSpPr>
          <p:cNvPr id="36" name="Text 28"/>
          <p:cNvSpPr txBox="1"/>
          <p:nvPr/>
        </p:nvSpPr>
        <p:spPr>
          <a:xfrm>
            <a:off x="8308848" y="5111496"/>
            <a:ext cx="314858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balance between disease-present and disease-absent cases</a:t>
            </a:r>
            <a:endParaRPr lang="en-US" sz="1100" dirty="0"/>
          </a:p>
        </p:txBody>
      </p:sp>
      <p:pic>
        <p:nvPicPr>
          <p:cNvPr id="37" name="Image 6" descr="/home/claude/heart_ppt/icons/icon_heartbeat_c.png">    </p:cNvPr>
          <p:cNvPicPr>
            <a:picLocks noChangeAspect="1"/>
          </p:cNvPicPr>
          <p:nvPr/>
        </p:nvPicPr>
        <p:blipFill>
          <a:blip r:embed="rId7">
            <a:alphaModFix amt="60000"/>
          </a:blip>
          <a:stretch>
            <a:fillRect/>
          </a:stretch>
        </p:blipFill>
        <p:spPr>
          <a:xfrm>
            <a:off x="457200" y="6473952"/>
            <a:ext cx="146304" cy="146304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658368" y="6437376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Prediction · Ridge &amp; Lasso Logistic Regression</a:t>
            </a:r>
            <a:endParaRPr lang="en-US" sz="900" dirty="0"/>
          </a:p>
        </p:txBody>
      </p:sp>
      <p:sp>
        <p:nvSpPr>
          <p:cNvPr id="39" name="Text 30"/>
          <p:cNvSpPr/>
          <p:nvPr/>
        </p:nvSpPr>
        <p:spPr>
          <a:xfrm>
            <a:off x="11365992" y="6437376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FDEEEC"/>
          </a:solidFill>
          <a:ln/>
        </p:spPr>
      </p:sp>
      <p:sp>
        <p:nvSpPr>
          <p:cNvPr id="3" name="Shape 1"/>
          <p:cNvSpPr/>
          <p:nvPr/>
        </p:nvSpPr>
        <p:spPr>
          <a:xfrm>
            <a:off x="11000232" y="5669280"/>
            <a:ext cx="2011680" cy="2011680"/>
          </a:xfrm>
          <a:prstGeom prst="ellipse">
            <a:avLst/>
          </a:prstGeom>
          <a:solidFill>
            <a:srgbClr val="FDEEE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SHARPENING THE INPUTS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Selection &amp; Engineering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7" name="Image 0" descr="/home/claude/heart_ppt/icons/icon_checkcircle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07008" y="1709928"/>
            <a:ext cx="5468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used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207008" y="1993392"/>
            <a:ext cx="5468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13 clinical attributes — age, sex, chest pain type, resting BP, cholesterol, fasting blood sugar, ECG, max heart rate, exercise angina, ST depression, slope, vessels, thal.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2788920"/>
            <a:ext cx="457200" cy="457200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11" name="Image 1" descr="/home/claude/heart_ppt/icons/icon_filter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88036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207008" y="2761488"/>
            <a:ext cx="5468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removed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1207008" y="3044952"/>
            <a:ext cx="5468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redundant or near-zero-variance columns identified during correlation review are dropped to reduce noise.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840480"/>
            <a:ext cx="457200" cy="457200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15" name="Image 2" descr="/home/claude/heart_ppt/icons/icon_bullseye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93192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207008" y="3813048"/>
            <a:ext cx="5468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removed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1207008" y="4096512"/>
            <a:ext cx="5468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multicollinearity keeps Ridge/Lasso coefficients stable and easier to interpret clinically.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48640" y="4892040"/>
            <a:ext cx="457200" cy="457200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19" name="Image 3" descr="/home/claude/heart_ppt/icons/icon_layergroup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983480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207008" y="4864608"/>
            <a:ext cx="5468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features created</a:t>
            </a:r>
            <a:endParaRPr lang="en-US" sz="1400" dirty="0"/>
          </a:p>
        </p:txBody>
      </p:sp>
      <p:sp>
        <p:nvSpPr>
          <p:cNvPr id="21" name="Text 15"/>
          <p:cNvSpPr txBox="1"/>
          <p:nvPr/>
        </p:nvSpPr>
        <p:spPr>
          <a:xfrm>
            <a:off x="1207008" y="5148072"/>
            <a:ext cx="5468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binned age groups and interaction terms (e.g. age × cholesterol) tested to capture non-linear risk patterns.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7040880" y="1691640"/>
            <a:ext cx="4572000" cy="4343400"/>
          </a:xfrm>
          <a:prstGeom prst="roundRect">
            <a:avLst>
              <a:gd name="adj" fmla="val 3789"/>
            </a:avLst>
          </a:prstGeom>
          <a:solidFill>
            <a:srgbClr val="990011"/>
          </a:solidFill>
          <a:ln/>
        </p:spPr>
      </p:sp>
      <p:pic>
        <p:nvPicPr>
          <p:cNvPr id="23" name="Image 4" descr="/home/claude/heart_ppt/icons/icon_sliders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5400" y="2011680"/>
            <a:ext cx="777240" cy="77724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406640" y="292608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Lasso as a built-in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selector</a:t>
            </a:r>
            <a:endParaRPr lang="en-US" sz="1800" dirty="0"/>
          </a:p>
        </p:txBody>
      </p:sp>
      <p:sp>
        <p:nvSpPr>
          <p:cNvPr id="25" name="Text 18"/>
          <p:cNvSpPr/>
          <p:nvPr/>
        </p:nvSpPr>
        <p:spPr>
          <a:xfrm>
            <a:off x="7452360" y="3657600"/>
            <a:ext cx="37490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6D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regularization shrinks the coefficients of weak predictors all the way to zero — automatically discarding features that add little diagnostic value, while Ridge keeps every feature but dampens their influence.</a:t>
            </a:r>
            <a:endParaRPr lang="en-US" sz="1200" dirty="0"/>
          </a:p>
        </p:txBody>
      </p:sp>
      <p:pic>
        <p:nvPicPr>
          <p:cNvPr id="26" name="Image 5" descr="/home/claude/heart_ppt/icons/icon_heartbeat_c.png">    </p:cNvPr>
          <p:cNvPicPr>
            <a:picLocks noChangeAspect="1"/>
          </p:cNvPicPr>
          <p:nvPr/>
        </p:nvPicPr>
        <p:blipFill>
          <a:blip r:embed="rId6">
            <a:alphaModFix amt="60000"/>
          </a:blip>
          <a:stretch>
            <a:fillRect/>
          </a:stretch>
        </p:blipFill>
        <p:spPr>
          <a:xfrm>
            <a:off x="457200" y="6473952"/>
            <a:ext cx="146304" cy="146304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58368" y="6437376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Prediction · Ridge &amp; Lasso Logistic Regression</a:t>
            </a:r>
            <a:endParaRPr lang="en-US" sz="900" dirty="0"/>
          </a:p>
        </p:txBody>
      </p:sp>
      <p:sp>
        <p:nvSpPr>
          <p:cNvPr id="28" name="Text 20"/>
          <p:cNvSpPr/>
          <p:nvPr/>
        </p:nvSpPr>
        <p:spPr>
          <a:xfrm>
            <a:off x="11365992" y="6437376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FDEEEC"/>
          </a:solidFill>
          <a:ln/>
        </p:spPr>
      </p:sp>
      <p:sp>
        <p:nvSpPr>
          <p:cNvPr id="3" name="Shape 1"/>
          <p:cNvSpPr/>
          <p:nvPr/>
        </p:nvSpPr>
        <p:spPr>
          <a:xfrm>
            <a:off x="11000232" y="5669280"/>
            <a:ext cx="2011680" cy="2011680"/>
          </a:xfrm>
          <a:prstGeom prst="ellipse">
            <a:avLst/>
          </a:prstGeom>
          <a:solidFill>
            <a:srgbClr val="FDEEE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PREPARING TO TRAIN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Train–Test Split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103120"/>
            <a:ext cx="8412480" cy="914400"/>
          </a:xfrm>
          <a:prstGeom prst="roundRect">
            <a:avLst>
              <a:gd name="adj" fmla="val 12000"/>
            </a:avLst>
          </a:prstGeom>
          <a:solidFill>
            <a:srgbClr val="990011"/>
          </a:solidFill>
          <a:ln/>
        </p:spPr>
      </p:sp>
      <p:sp>
        <p:nvSpPr>
          <p:cNvPr id="7" name="Shape 5"/>
          <p:cNvSpPr/>
          <p:nvPr/>
        </p:nvSpPr>
        <p:spPr>
          <a:xfrm>
            <a:off x="9235440" y="2103120"/>
            <a:ext cx="2103120" cy="914400"/>
          </a:xfrm>
          <a:prstGeom prst="roundRect">
            <a:avLst>
              <a:gd name="adj" fmla="val 12000"/>
            </a:avLst>
          </a:prstGeom>
          <a:solidFill>
            <a:srgbClr val="2F3C7E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10312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235440" y="210312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22960" y="3474720"/>
            <a:ext cx="457200" cy="457200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11" name="Image 0" descr="/home/claude/heart_ppt/icons/icon_database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566160"/>
            <a:ext cx="274320" cy="27432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81328" y="3447288"/>
            <a:ext cx="4462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 (80%)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481328" y="3730752"/>
            <a:ext cx="4462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fit the Logistic Regression, Ridge and Lasso model coefficients.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309360" y="3474720"/>
            <a:ext cx="457200" cy="457200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15" name="Image 1" descr="/home/claude/heart_ppt/icons/icon_checkcircle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566160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6967728" y="3447288"/>
            <a:ext cx="4462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data (20%)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6967728" y="3730752"/>
            <a:ext cx="4462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 out and untouched during training — used only to evaluate final performance.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822960" y="4709160"/>
            <a:ext cx="10515600" cy="1051560"/>
          </a:xfrm>
          <a:prstGeom prst="roundRect">
            <a:avLst>
              <a:gd name="adj" fmla="val 12174"/>
            </a:avLst>
          </a:prstGeom>
          <a:solidFill>
            <a:srgbClr val="FBE3DF"/>
          </a:solidFill>
          <a:ln/>
        </p:spPr>
      </p:sp>
      <p:sp>
        <p:nvSpPr>
          <p:cNvPr id="19" name="Text 15"/>
          <p:cNvSpPr/>
          <p:nvPr/>
        </p:nvSpPr>
        <p:spPr>
          <a:xfrm>
            <a:off x="1097280" y="4709160"/>
            <a:ext cx="9966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A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stratified split preserves the same ratio of disease-present to disease-absent cases in both the training and testing sets, so evaluation metrics stay reliable.</a:t>
            </a:r>
            <a:endParaRPr lang="en-US" sz="1250" dirty="0"/>
          </a:p>
        </p:txBody>
      </p:sp>
      <p:pic>
        <p:nvPicPr>
          <p:cNvPr id="20" name="Image 2" descr="/home/claude/heart_ppt/icons/icon_heartbeat_c.png">    </p:cNvPr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457200" y="6473952"/>
            <a:ext cx="146304" cy="14630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58368" y="6437376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Prediction · Ridge &amp; Lasso Logistic Regression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1365992" y="6437376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FDEEEC"/>
          </a:solidFill>
          <a:ln/>
        </p:spPr>
      </p:sp>
      <p:sp>
        <p:nvSpPr>
          <p:cNvPr id="3" name="Shape 1"/>
          <p:cNvSpPr/>
          <p:nvPr/>
        </p:nvSpPr>
        <p:spPr>
          <a:xfrm>
            <a:off x="11000232" y="5669280"/>
            <a:ext cx="2011680" cy="2011680"/>
          </a:xfrm>
          <a:prstGeom prst="ellipse">
            <a:avLst/>
          </a:prstGeom>
          <a:solidFill>
            <a:srgbClr val="FDEEE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BUILDING THE MODELS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Building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logistic regression variants trained and compared on the same split.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3520440" cy="4023360"/>
          </a:xfrm>
          <a:prstGeom prst="roundRect">
            <a:avLst>
              <a:gd name="adj" fmla="val 41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90011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988820" y="2011680"/>
            <a:ext cx="640080" cy="640080"/>
          </a:xfrm>
          <a:prstGeom prst="ellipse">
            <a:avLst/>
          </a:prstGeom>
          <a:solidFill>
            <a:srgbClr val="FBE3DF"/>
          </a:solidFill>
          <a:ln/>
        </p:spPr>
      </p:sp>
      <p:pic>
        <p:nvPicPr>
          <p:cNvPr id="9" name="Image 0" descr="/home/claude/heart_ppt/icons/icon_cogs_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5124" y="2157984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1520" y="28346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2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1520" y="331927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i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classifier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822960" y="3749040"/>
            <a:ext cx="2971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penalty on coefficients — a reference point for how much regularization helps.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343400" y="1691640"/>
            <a:ext cx="3520440" cy="4023360"/>
          </a:xfrm>
          <a:prstGeom prst="roundRect">
            <a:avLst>
              <a:gd name="adj" fmla="val 4156"/>
            </a:avLst>
          </a:prstGeom>
          <a:solidFill>
            <a:srgbClr val="990011"/>
          </a:solidFill>
          <a:ln/>
          <a:effectLst>
            <a:outerShdw sx="100000" sy="100000" kx="0" ky="0" algn="bl" rotWithShape="0" blurRad="101600" dist="38100" dir="5400000">
              <a:srgbClr val="990011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783580" y="201168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1" descr="/home/claude/heart_ppt/icons/icon_cogs_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9884" y="2157984"/>
            <a:ext cx="347472" cy="34747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526280" y="28346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Ridge (L2)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4526280" y="331927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i="1" dirty="0">
                <a:solidFill>
                  <a:srgbClr val="F6D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Penalizes large coefficients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4617720" y="3749040"/>
            <a:ext cx="2971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B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Shrinks all coefficients smoothly, reducing overfitting while keeping every feature.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8138160" y="1691640"/>
            <a:ext cx="3520440" cy="4023360"/>
          </a:xfrm>
          <a:prstGeom prst="roundRect">
            <a:avLst>
              <a:gd name="adj" fmla="val 41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90011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9578340" y="2011680"/>
            <a:ext cx="640080" cy="640080"/>
          </a:xfrm>
          <a:prstGeom prst="ellipse">
            <a:avLst/>
          </a:prstGeom>
          <a:solidFill>
            <a:srgbClr val="FBE3DF"/>
          </a:solidFill>
          <a:ln/>
        </p:spPr>
      </p:sp>
      <p:pic>
        <p:nvPicPr>
          <p:cNvPr id="21" name="Image 2" descr="/home/claude/heart_ppt/icons/icon_cogs_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4644" y="2157984"/>
            <a:ext cx="347472" cy="34747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321040" y="28346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2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Lasso (L1)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8321040" y="331927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i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Sparse, interpretable model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8412480" y="3749040"/>
            <a:ext cx="2971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weak feature coefficients to exactly zero — built-in feature selection.</a:t>
            </a:r>
            <a:endParaRPr lang="en-US" sz="1150" dirty="0"/>
          </a:p>
        </p:txBody>
      </p:sp>
      <p:pic>
        <p:nvPicPr>
          <p:cNvPr id="25" name="Image 3" descr="/home/claude/heart_ppt/icons/icon_heartbeat_c.png">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457200" y="6473952"/>
            <a:ext cx="146304" cy="14630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58368" y="6437376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Prediction · Ridge &amp; Lasso Logistic Regression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365992" y="6437376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FDEEEC"/>
          </a:solidFill>
          <a:ln/>
        </p:spPr>
      </p:sp>
      <p:sp>
        <p:nvSpPr>
          <p:cNvPr id="3" name="Shape 1"/>
          <p:cNvSpPr/>
          <p:nvPr/>
        </p:nvSpPr>
        <p:spPr>
          <a:xfrm>
            <a:off x="11000232" y="5669280"/>
            <a:ext cx="2011680" cy="2011680"/>
          </a:xfrm>
          <a:prstGeom prst="ellipse">
            <a:avLst/>
          </a:prstGeom>
          <a:solidFill>
            <a:srgbClr val="FDEEE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MEASURING PERFORMANCE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Evaluation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metrics used to compare the three models fairly.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3550920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90011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49808" y="1892808"/>
            <a:ext cx="502920" cy="502920"/>
          </a:xfrm>
          <a:prstGeom prst="ellipse">
            <a:avLst/>
          </a:prstGeom>
          <a:solidFill>
            <a:srgbClr val="FBE3DF"/>
          </a:solidFill>
          <a:ln/>
        </p:spPr>
      </p:sp>
      <p:pic>
        <p:nvPicPr>
          <p:cNvPr id="9" name="Image 0" descr="/home/claude/heart_ppt/icons/icon_checkcircle_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108" y="2007108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49808" y="2468880"/>
            <a:ext cx="3148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49808" y="2779776"/>
            <a:ext cx="314858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share of correctly classified patients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328160" y="1691640"/>
            <a:ext cx="3550920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90011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29328" y="1892808"/>
            <a:ext cx="502920" cy="502920"/>
          </a:xfrm>
          <a:prstGeom prst="ellipse">
            <a:avLst/>
          </a:prstGeom>
          <a:solidFill>
            <a:srgbClr val="FBE3DF"/>
          </a:solidFill>
          <a:ln/>
        </p:spPr>
      </p:sp>
      <p:pic>
        <p:nvPicPr>
          <p:cNvPr id="14" name="Image 1" descr="/home/claude/heart_ppt/icons/icon_bullseye_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3628" y="2007108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529328" y="2468880"/>
            <a:ext cx="3148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4529328" y="2779776"/>
            <a:ext cx="314858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predicted-positive cases, how many truly have heart disease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8107680" y="1691640"/>
            <a:ext cx="3550920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90011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308848" y="1892808"/>
            <a:ext cx="502920" cy="502920"/>
          </a:xfrm>
          <a:prstGeom prst="ellipse">
            <a:avLst/>
          </a:prstGeom>
          <a:solidFill>
            <a:srgbClr val="FBE3DF"/>
          </a:solidFill>
          <a:ln/>
        </p:spPr>
      </p:sp>
      <p:pic>
        <p:nvPicPr>
          <p:cNvPr id="19" name="Image 2" descr="/home/claude/heart_ppt/icons/icon_stethoscope_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3148" y="2007108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308848" y="2468880"/>
            <a:ext cx="3148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8308848" y="2779776"/>
            <a:ext cx="314858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actual positive cases, how many the model correctly catches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548640" y="4023360"/>
            <a:ext cx="3550920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90011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49808" y="4224528"/>
            <a:ext cx="502920" cy="502920"/>
          </a:xfrm>
          <a:prstGeom prst="ellipse">
            <a:avLst/>
          </a:prstGeom>
          <a:solidFill>
            <a:srgbClr val="FBE3DF"/>
          </a:solidFill>
          <a:ln/>
        </p:spPr>
      </p:sp>
      <p:pic>
        <p:nvPicPr>
          <p:cNvPr id="24" name="Image 3" descr="/home/claude/heart_ppt/icons/icon_layergroup_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108" y="4338828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49808" y="4800600"/>
            <a:ext cx="3148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749808" y="5111496"/>
            <a:ext cx="314858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Harmonic balance between precision and recall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4328160" y="4023360"/>
            <a:ext cx="3550920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90011">
                <a:alpha val="18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4529328" y="4224528"/>
            <a:ext cx="502920" cy="502920"/>
          </a:xfrm>
          <a:prstGeom prst="ellipse">
            <a:avLst/>
          </a:prstGeom>
          <a:solidFill>
            <a:srgbClr val="FBE3DF"/>
          </a:solidFill>
          <a:ln/>
        </p:spPr>
      </p:sp>
      <p:pic>
        <p:nvPicPr>
          <p:cNvPr id="29" name="Image 4" descr="/home/claude/heart_ppt/icons/icon_clipboard_c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3628" y="4338828"/>
            <a:ext cx="274320" cy="27432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4529328" y="4800600"/>
            <a:ext cx="3148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300" dirty="0"/>
          </a:p>
        </p:txBody>
      </p:sp>
      <p:sp>
        <p:nvSpPr>
          <p:cNvPr id="31" name="Text 24"/>
          <p:cNvSpPr txBox="1"/>
          <p:nvPr/>
        </p:nvSpPr>
        <p:spPr>
          <a:xfrm>
            <a:off x="4529328" y="5111496"/>
            <a:ext cx="314858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breakdown of true/false positives and negatives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8107680" y="4023360"/>
            <a:ext cx="3550920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90011">
                <a:alpha val="18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8308848" y="4224528"/>
            <a:ext cx="502920" cy="502920"/>
          </a:xfrm>
          <a:prstGeom prst="ellipse">
            <a:avLst/>
          </a:prstGeom>
          <a:solidFill>
            <a:srgbClr val="FBE3DF"/>
          </a:solidFill>
          <a:ln/>
        </p:spPr>
      </p:sp>
      <p:pic>
        <p:nvPicPr>
          <p:cNvPr id="34" name="Image 5" descr="/home/claude/heart_ppt/icons/icon_chartline_c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3148" y="4338828"/>
            <a:ext cx="274320" cy="274320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8308848" y="4800600"/>
            <a:ext cx="3148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300" dirty="0"/>
          </a:p>
        </p:txBody>
      </p:sp>
      <p:sp>
        <p:nvSpPr>
          <p:cNvPr id="36" name="Text 28"/>
          <p:cNvSpPr txBox="1"/>
          <p:nvPr/>
        </p:nvSpPr>
        <p:spPr>
          <a:xfrm>
            <a:off x="8308848" y="5111496"/>
            <a:ext cx="314858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well the model separates disease from no-disease across thresholds</a:t>
            </a:r>
            <a:endParaRPr lang="en-US" sz="1100" dirty="0"/>
          </a:p>
        </p:txBody>
      </p:sp>
      <p:pic>
        <p:nvPicPr>
          <p:cNvPr id="37" name="Image 6" descr="/home/claude/heart_ppt/icons/icon_heartbeat_c.png">    </p:cNvPr>
          <p:cNvPicPr>
            <a:picLocks noChangeAspect="1"/>
          </p:cNvPicPr>
          <p:nvPr/>
        </p:nvPicPr>
        <p:blipFill>
          <a:blip r:embed="rId7">
            <a:alphaModFix amt="60000"/>
          </a:blip>
          <a:stretch>
            <a:fillRect/>
          </a:stretch>
        </p:blipFill>
        <p:spPr>
          <a:xfrm>
            <a:off x="457200" y="6473952"/>
            <a:ext cx="146304" cy="146304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658368" y="6437376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Prediction · Ridge &amp; Lasso Logistic Regression</a:t>
            </a:r>
            <a:endParaRPr lang="en-US" sz="900" dirty="0"/>
          </a:p>
        </p:txBody>
      </p:sp>
      <p:sp>
        <p:nvSpPr>
          <p:cNvPr id="39" name="Text 30"/>
          <p:cNvSpPr/>
          <p:nvPr/>
        </p:nvSpPr>
        <p:spPr>
          <a:xfrm>
            <a:off x="11365992" y="6437376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FDEEEC"/>
          </a:solidFill>
          <a:ln/>
        </p:spPr>
      </p:sp>
      <p:sp>
        <p:nvSpPr>
          <p:cNvPr id="3" name="Shape 1"/>
          <p:cNvSpPr/>
          <p:nvPr/>
        </p:nvSpPr>
        <p:spPr>
          <a:xfrm>
            <a:off x="11000232" y="5669280"/>
            <a:ext cx="2011680" cy="2011680"/>
          </a:xfrm>
          <a:prstGeom prst="ellipse">
            <a:avLst/>
          </a:prstGeom>
          <a:solidFill>
            <a:srgbClr val="FDEEE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·  PERSISTING THE WORK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Save the Final Model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621792" cy="621792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783080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335024" y="1783080"/>
            <a:ext cx="10277856" cy="6217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90011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1655064" y="1783080"/>
            <a:ext cx="97292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best-performing model (Ridge or Lasso) based on validation metrics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606040"/>
            <a:ext cx="621792" cy="621792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606040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335024" y="2606040"/>
            <a:ext cx="10277856" cy="6217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90011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1655064" y="2606040"/>
            <a:ext cx="97292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Serialize the trained model and preprocessing pipeline using joblib / pickle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429000"/>
            <a:ext cx="621792" cy="621792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429000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335024" y="3429000"/>
            <a:ext cx="10277856" cy="6217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90011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1655064" y="3429000"/>
            <a:ext cx="97292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the saved model file alongside a short model card describing metrics and inputs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251960"/>
            <a:ext cx="621792" cy="621792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251960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335024" y="4251960"/>
            <a:ext cx="10277856" cy="6217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90011">
                <a:alpha val="1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1655064" y="4251960"/>
            <a:ext cx="97292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the artifact so future retraining never silently overwrites a working model</a:t>
            </a:r>
            <a:endParaRPr lang="en-US" sz="1400" dirty="0"/>
          </a:p>
        </p:txBody>
      </p:sp>
      <p:pic>
        <p:nvPicPr>
          <p:cNvPr id="22" name="Image 0" descr="/home/claude/heart_ppt/icons/icon_save_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0" y="457200"/>
            <a:ext cx="640080" cy="640080"/>
          </a:xfrm>
          <a:prstGeom prst="rect">
            <a:avLst/>
          </a:prstGeom>
        </p:spPr>
      </p:pic>
      <p:pic>
        <p:nvPicPr>
          <p:cNvPr id="23" name="Image 1" descr="/home/claude/heart_ppt/icons/icon_heartbeat_c.png">    </p:cNvPr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457200" y="6473952"/>
            <a:ext cx="146304" cy="146304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658368" y="6437376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Prediction · Ridge &amp; Lasso Logistic Regression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11365992" y="6437376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FDEEEC"/>
          </a:solidFill>
          <a:ln/>
        </p:spPr>
      </p:sp>
      <p:sp>
        <p:nvSpPr>
          <p:cNvPr id="3" name="Shape 1"/>
          <p:cNvSpPr/>
          <p:nvPr/>
        </p:nvSpPr>
        <p:spPr>
          <a:xfrm>
            <a:off x="11000232" y="5669280"/>
            <a:ext cx="2011680" cy="2011680"/>
          </a:xfrm>
          <a:prstGeom prst="ellipse">
            <a:avLst/>
          </a:prstGeom>
          <a:solidFill>
            <a:srgbClr val="FDEEE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·  MANDATORY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052560" y="384048"/>
            <a:ext cx="2606040" cy="384048"/>
          </a:xfrm>
          <a:prstGeom prst="roundRect">
            <a:avLst>
              <a:gd name="adj" fmla="val 50000"/>
            </a:avLst>
          </a:prstGeom>
          <a:solidFill>
            <a:srgbClr val="990011"/>
          </a:solidFill>
          <a:ln/>
        </p:spPr>
      </p:sp>
      <p:sp>
        <p:nvSpPr>
          <p:cNvPr id="7" name="Text 5"/>
          <p:cNvSpPr/>
          <p:nvPr/>
        </p:nvSpPr>
        <p:spPr>
          <a:xfrm>
            <a:off x="9052560" y="384048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STEP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5417820" cy="20802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90011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49808" y="1892808"/>
            <a:ext cx="502920" cy="502920"/>
          </a:xfrm>
          <a:prstGeom prst="ellipse">
            <a:avLst/>
          </a:prstGeom>
          <a:solidFill>
            <a:srgbClr val="FBE3DF"/>
          </a:solidFill>
          <a:ln/>
        </p:spPr>
      </p:sp>
      <p:pic>
        <p:nvPicPr>
          <p:cNvPr id="10" name="Image 0" descr="/home/claude/heart_ppt/icons/icon_cloud_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108" y="2007108"/>
            <a:ext cx="274320" cy="27432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749808" y="2468880"/>
            <a:ext cx="50154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the model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2779776"/>
            <a:ext cx="5015484" cy="918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the saved model inside a lightweight Flask / Streamlit application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240780" y="1691640"/>
            <a:ext cx="5417820" cy="20802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90011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441948" y="1892808"/>
            <a:ext cx="502920" cy="502920"/>
          </a:xfrm>
          <a:prstGeom prst="ellipse">
            <a:avLst/>
          </a:prstGeom>
          <a:solidFill>
            <a:srgbClr val="FBE3DF"/>
          </a:solidFill>
          <a:ln/>
        </p:spPr>
      </p:sp>
      <p:pic>
        <p:nvPicPr>
          <p:cNvPr id="15" name="Image 1" descr="/home/claude/heart_ppt/icons/icon_codebranch_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6248" y="2007108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6441948" y="2468880"/>
            <a:ext cx="50154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an API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6441948" y="2779776"/>
            <a:ext cx="5015484" cy="918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predictions through a simple REST endpoint for other systems to call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48640" y="4046220"/>
            <a:ext cx="5417820" cy="20802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90011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49808" y="4247388"/>
            <a:ext cx="502920" cy="502920"/>
          </a:xfrm>
          <a:prstGeom prst="ellipse">
            <a:avLst/>
          </a:prstGeom>
          <a:solidFill>
            <a:srgbClr val="FBE3DF"/>
          </a:solidFill>
          <a:ln/>
        </p:spPr>
      </p:sp>
      <p:pic>
        <p:nvPicPr>
          <p:cNvPr id="20" name="Image 2" descr="/home/claude/heart_ppt/icons/icon_usermd_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" y="4361688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749808" y="4823460"/>
            <a:ext cx="50154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clinician UI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749808" y="5134356"/>
            <a:ext cx="5015484" cy="918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form for patient vitals, returning a risk prediction instantly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240780" y="4046220"/>
            <a:ext cx="5417820" cy="20802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90011">
                <a:alpha val="1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41948" y="4247388"/>
            <a:ext cx="502920" cy="502920"/>
          </a:xfrm>
          <a:prstGeom prst="ellipse">
            <a:avLst/>
          </a:prstGeom>
          <a:solidFill>
            <a:srgbClr val="FBE3DF"/>
          </a:solidFill>
          <a:ln/>
        </p:spPr>
      </p:sp>
      <p:pic>
        <p:nvPicPr>
          <p:cNvPr id="25" name="Image 3" descr="/home/claude/heart_ppt/icons/icon_shield_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6248" y="4361688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6441948" y="4823460"/>
            <a:ext cx="50154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&amp; monitor</a:t>
            </a:r>
            <a:endParaRPr lang="en-US" sz="1500" dirty="0"/>
          </a:p>
        </p:txBody>
      </p:sp>
      <p:sp>
        <p:nvSpPr>
          <p:cNvPr id="27" name="Text 21"/>
          <p:cNvSpPr txBox="1"/>
          <p:nvPr/>
        </p:nvSpPr>
        <p:spPr>
          <a:xfrm>
            <a:off x="6441948" y="5134356"/>
            <a:ext cx="5015484" cy="918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a cloud host and track prediction quality over time</a:t>
            </a:r>
            <a:endParaRPr lang="en-US" sz="1200" dirty="0"/>
          </a:p>
        </p:txBody>
      </p:sp>
      <p:pic>
        <p:nvPicPr>
          <p:cNvPr id="28" name="Image 4" descr="/home/claude/heart_ppt/icons/icon_heartbeat_c.png">    </p:cNvPr>
          <p:cNvPicPr>
            <a:picLocks noChangeAspect="1"/>
          </p:cNvPicPr>
          <p:nvPr/>
        </p:nvPicPr>
        <p:blipFill>
          <a:blip r:embed="rId5">
            <a:alphaModFix amt="60000"/>
          </a:blip>
          <a:stretch>
            <a:fillRect/>
          </a:stretch>
        </p:blipFill>
        <p:spPr>
          <a:xfrm>
            <a:off x="457200" y="6473952"/>
            <a:ext cx="146304" cy="14630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658368" y="6437376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Prediction · Ridge &amp; Lasso Logistic Regression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365992" y="6437376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9900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1512" y="-1463040"/>
            <a:ext cx="3840480" cy="38404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51592" y="-822960"/>
            <a:ext cx="2560320" cy="2560320"/>
          </a:xfrm>
          <a:prstGeom prst="ellipse">
            <a:avLst/>
          </a:prstGeom>
          <a:solidFill>
            <a:srgbClr val="6E000C"/>
          </a:solidFill>
          <a:ln/>
        </p:spPr>
      </p:sp>
      <p:sp>
        <p:nvSpPr>
          <p:cNvPr id="4" name="Shape 2"/>
          <p:cNvSpPr/>
          <p:nvPr/>
        </p:nvSpPr>
        <p:spPr>
          <a:xfrm>
            <a:off x="-1463040" y="5029200"/>
            <a:ext cx="3291840" cy="329184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822960" y="5852160"/>
            <a:ext cx="1828800" cy="182880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pic>
        <p:nvPicPr>
          <p:cNvPr id="6" name="Image 0" descr="/home/claude/heart_ppt/icons/icon_heart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1556" y="1554480"/>
            <a:ext cx="1005840" cy="1005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0" y="2743200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1371600" y="352044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6D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Prediction using Ridge- and Lasso-Regularized Logistic Regression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0" y="420624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ANUSRI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~  2520030432    |    </a:t>
            </a:r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 SIMRAN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~  2520030166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0" y="461772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9B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20  ·  Section 9  ·  Guided by M Rani, CSE Department  ·  KLH University, Bachupally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2026-09-21T04:19:58Z</dcterms:created>
  <dcterms:modified xsi:type="dcterms:W3CDTF">2026-09-21T04:19:58Z</dcterms:modified>
</cp:coreProperties>
</file>